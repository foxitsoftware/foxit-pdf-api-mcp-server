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8861" y="371982"/>
            <a:ext cx="6717030" cy="9392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#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Foxit Cloud API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MCP </a:t>
            </a:r>
            <a:r>
              <a:rPr dirty="0" sz="1200" spc="-10">
                <a:latin typeface="Arial"/>
                <a:cs typeface="Arial"/>
              </a:rPr>
              <a:t>TestCase</a:t>
            </a:r>
            <a:endParaRPr sz="1200">
              <a:latin typeface="Arial"/>
              <a:cs typeface="Arial"/>
            </a:endParaRPr>
          </a:p>
          <a:p>
            <a:pPr marL="12700" marR="401955">
              <a:lnSpc>
                <a:spcPts val="1340"/>
              </a:lnSpc>
              <a:spcBef>
                <a:spcPts val="1365"/>
              </a:spcBef>
            </a:pPr>
            <a:r>
              <a:rPr dirty="0" sz="1200">
                <a:latin typeface="Arial"/>
                <a:cs typeface="Arial"/>
              </a:rPr>
              <a:t>Foxit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Cloud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API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are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comprehensive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suite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**RESTful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cloud-</a:t>
            </a:r>
            <a:r>
              <a:rPr dirty="0" sz="1200">
                <a:latin typeface="Arial"/>
                <a:cs typeface="Arial"/>
              </a:rPr>
              <a:t>based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APIs**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built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Foxit’s industry-</a:t>
            </a:r>
            <a:r>
              <a:rPr dirty="0" sz="1200">
                <a:latin typeface="Arial"/>
                <a:cs typeface="Arial"/>
              </a:rPr>
              <a:t>leading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document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processing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technology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scalable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cloud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infrastructure,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enabling </a:t>
            </a:r>
            <a:r>
              <a:rPr dirty="0" sz="1200">
                <a:latin typeface="Arial"/>
                <a:cs typeface="Arial"/>
              </a:rPr>
              <a:t>developers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integrate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robust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PDF, eSign,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document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automation capabilities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directly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into </a:t>
            </a:r>
            <a:r>
              <a:rPr dirty="0" sz="1200">
                <a:latin typeface="Arial"/>
                <a:cs typeface="Arial"/>
              </a:rPr>
              <a:t>applications,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platforms,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workflows.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260"/>
              </a:lnSpc>
            </a:pPr>
            <a:r>
              <a:rPr dirty="0" sz="1200">
                <a:latin typeface="Arial"/>
                <a:cs typeface="Arial"/>
              </a:rPr>
              <a:t>##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Core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API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Suite</a:t>
            </a:r>
            <a:endParaRPr sz="1200">
              <a:latin typeface="Arial"/>
              <a:cs typeface="Arial"/>
            </a:endParaRPr>
          </a:p>
          <a:p>
            <a:pPr marL="12700" marR="479425">
              <a:lnSpc>
                <a:spcPts val="1340"/>
              </a:lnSpc>
              <a:spcBef>
                <a:spcPts val="80"/>
              </a:spcBef>
            </a:pPr>
            <a:r>
              <a:rPr dirty="0" sz="1200">
                <a:latin typeface="Arial"/>
                <a:cs typeface="Arial"/>
              </a:rPr>
              <a:t>Foxit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Cloud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API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ecosystem consists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of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four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primary API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modules,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covering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 full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document lifecycle: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260"/>
              </a:lnSpc>
            </a:pPr>
            <a:r>
              <a:rPr dirty="0" sz="1200">
                <a:latin typeface="Arial"/>
                <a:cs typeface="Arial"/>
              </a:rPr>
              <a:t>###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1.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PDF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Services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API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40"/>
              </a:lnSpc>
            </a:pPr>
            <a:r>
              <a:rPr dirty="0" sz="1200">
                <a:latin typeface="Arial"/>
                <a:cs typeface="Arial"/>
              </a:rPr>
              <a:t>A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server-</a:t>
            </a:r>
            <a:r>
              <a:rPr dirty="0" sz="1200">
                <a:latin typeface="Arial"/>
                <a:cs typeface="Arial"/>
              </a:rPr>
              <a:t>side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API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automated,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high-volume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PDF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processing.</a:t>
            </a:r>
            <a:endParaRPr sz="1200">
              <a:latin typeface="Arial"/>
              <a:cs typeface="Arial"/>
            </a:endParaRPr>
          </a:p>
          <a:p>
            <a:pPr marL="12700" marR="283210" indent="92710">
              <a:lnSpc>
                <a:spcPts val="1340"/>
              </a:lnSpc>
              <a:spcBef>
                <a:spcPts val="75"/>
              </a:spcBef>
              <a:buChar char="-"/>
              <a:tabLst>
                <a:tab pos="105410" algn="l"/>
              </a:tabLst>
            </a:pPr>
            <a:r>
              <a:rPr dirty="0" sz="1200">
                <a:latin typeface="Arial"/>
                <a:cs typeface="Arial"/>
              </a:rPr>
              <a:t>**Core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Functions**: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PDF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creation/conversion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(Word,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Excel,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HTML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↔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PDF),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compression, </a:t>
            </a:r>
            <a:r>
              <a:rPr dirty="0" sz="1200">
                <a:latin typeface="Arial"/>
                <a:cs typeface="Arial"/>
              </a:rPr>
              <a:t>splitting/merging,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content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redaction,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optimization,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linearization,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extraction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(text,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tables, </a:t>
            </a:r>
            <a:r>
              <a:rPr dirty="0" sz="1200">
                <a:latin typeface="Arial"/>
                <a:cs typeface="Arial"/>
              </a:rPr>
              <a:t>structured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fields).</a:t>
            </a:r>
            <a:endParaRPr sz="1200">
              <a:latin typeface="Arial"/>
              <a:cs typeface="Arial"/>
            </a:endParaRPr>
          </a:p>
          <a:p>
            <a:pPr marL="106045" indent="-93345">
              <a:lnSpc>
                <a:spcPts val="1260"/>
              </a:lnSpc>
              <a:buChar char="-"/>
              <a:tabLst>
                <a:tab pos="106045" algn="l"/>
              </a:tabLst>
            </a:pPr>
            <a:r>
              <a:rPr dirty="0" sz="1200">
                <a:latin typeface="Arial"/>
                <a:cs typeface="Arial"/>
              </a:rPr>
              <a:t>**Use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Cases**: Batch document processing, back-end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workflow automation, </a:t>
            </a:r>
            <a:r>
              <a:rPr dirty="0" sz="1200" spc="-10">
                <a:latin typeface="Arial"/>
                <a:cs typeface="Arial"/>
              </a:rPr>
              <a:t>compliance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90"/>
              </a:lnSpc>
            </a:pPr>
            <a:r>
              <a:rPr dirty="0" sz="1200">
                <a:latin typeface="Arial"/>
                <a:cs typeface="Arial"/>
              </a:rPr>
              <a:t>archiving,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parsing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BI/AI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pipelines.</a:t>
            </a:r>
            <a:endParaRPr sz="1200">
              <a:latin typeface="Arial"/>
              <a:cs typeface="Arial"/>
            </a:endParaRPr>
          </a:p>
          <a:p>
            <a:pPr algn="just" marL="12700">
              <a:lnSpc>
                <a:spcPts val="1390"/>
              </a:lnSpc>
              <a:spcBef>
                <a:spcPts val="1240"/>
              </a:spcBef>
            </a:pPr>
            <a:r>
              <a:rPr dirty="0" sz="1200">
                <a:latin typeface="Arial"/>
                <a:cs typeface="Arial"/>
              </a:rPr>
              <a:t>###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2.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Document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Generation </a:t>
            </a:r>
            <a:r>
              <a:rPr dirty="0" sz="1200" spc="-25">
                <a:latin typeface="Arial"/>
                <a:cs typeface="Arial"/>
              </a:rPr>
              <a:t>API</a:t>
            </a:r>
            <a:endParaRPr sz="1200">
              <a:latin typeface="Arial"/>
              <a:cs typeface="Arial"/>
            </a:endParaRPr>
          </a:p>
          <a:p>
            <a:pPr algn="just" marL="12700">
              <a:lnSpc>
                <a:spcPts val="1340"/>
              </a:lnSpc>
            </a:pPr>
            <a:r>
              <a:rPr dirty="0" sz="1200">
                <a:latin typeface="Arial"/>
                <a:cs typeface="Arial"/>
              </a:rPr>
              <a:t>Enables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dynamic document creation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 structured data and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templates.</a:t>
            </a:r>
            <a:endParaRPr sz="1200">
              <a:latin typeface="Arial"/>
              <a:cs typeface="Arial"/>
            </a:endParaRPr>
          </a:p>
          <a:p>
            <a:pPr algn="just" marL="12700" marR="529590" indent="93345">
              <a:lnSpc>
                <a:spcPts val="1340"/>
              </a:lnSpc>
              <a:spcBef>
                <a:spcPts val="75"/>
              </a:spcBef>
              <a:buChar char="-"/>
              <a:tabLst>
                <a:tab pos="106045" algn="l"/>
              </a:tabLst>
            </a:pPr>
            <a:r>
              <a:rPr dirty="0" sz="1200">
                <a:latin typeface="Arial"/>
                <a:cs typeface="Arial"/>
              </a:rPr>
              <a:t>**Core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Functions**: Generate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branded PDFs/DOCX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from JSON/CRM/form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data; </a:t>
            </a:r>
            <a:r>
              <a:rPr dirty="0" sz="1200" spc="-10">
                <a:latin typeface="Arial"/>
                <a:cs typeface="Arial"/>
              </a:rPr>
              <a:t>populate </a:t>
            </a:r>
            <a:r>
              <a:rPr dirty="0" sz="1200">
                <a:latin typeface="Arial"/>
                <a:cs typeface="Arial"/>
              </a:rPr>
              <a:t>templates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 variables (names, pricing, tables); automate contracts,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invoices, reports, </a:t>
            </a:r>
            <a:r>
              <a:rPr dirty="0" sz="1200" spc="-25">
                <a:latin typeface="Arial"/>
                <a:cs typeface="Arial"/>
              </a:rPr>
              <a:t>and </a:t>
            </a:r>
            <a:r>
              <a:rPr dirty="0" sz="1200" spc="-10">
                <a:latin typeface="Arial"/>
                <a:cs typeface="Arial"/>
              </a:rPr>
              <a:t>disclosures.</a:t>
            </a:r>
            <a:endParaRPr sz="1200">
              <a:latin typeface="Arial"/>
              <a:cs typeface="Arial"/>
            </a:endParaRPr>
          </a:p>
          <a:p>
            <a:pPr algn="just" marL="106045" indent="-93345">
              <a:lnSpc>
                <a:spcPts val="1260"/>
              </a:lnSpc>
              <a:buChar char="-"/>
              <a:tabLst>
                <a:tab pos="106045" algn="l"/>
              </a:tabLst>
            </a:pPr>
            <a:r>
              <a:rPr dirty="0" sz="1200">
                <a:latin typeface="Arial"/>
                <a:cs typeface="Arial"/>
              </a:rPr>
              <a:t>**Use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Cases**: Personalized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document delivery,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on-demand report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generation, and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scalable</a:t>
            </a:r>
            <a:endParaRPr sz="1200">
              <a:latin typeface="Arial"/>
              <a:cs typeface="Arial"/>
            </a:endParaRPr>
          </a:p>
          <a:p>
            <a:pPr algn="just" marL="12700">
              <a:lnSpc>
                <a:spcPts val="1390"/>
              </a:lnSpc>
            </a:pPr>
            <a:r>
              <a:rPr dirty="0" sz="1200" spc="-10">
                <a:latin typeface="Arial"/>
                <a:cs typeface="Arial"/>
              </a:rPr>
              <a:t>template-</a:t>
            </a:r>
            <a:r>
              <a:rPr dirty="0" sz="1200">
                <a:latin typeface="Arial"/>
                <a:cs typeface="Arial"/>
              </a:rPr>
              <a:t>driven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document</a:t>
            </a:r>
            <a:r>
              <a:rPr dirty="0" sz="1200" spc="4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production.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90"/>
              </a:lnSpc>
              <a:spcBef>
                <a:spcPts val="1240"/>
              </a:spcBef>
            </a:pPr>
            <a:r>
              <a:rPr dirty="0" sz="1200">
                <a:latin typeface="Arial"/>
                <a:cs typeface="Arial"/>
              </a:rPr>
              <a:t>###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3. eSign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API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40"/>
              </a:lnSpc>
            </a:pPr>
            <a:r>
              <a:rPr dirty="0" sz="1200" spc="-10">
                <a:latin typeface="Arial"/>
                <a:cs typeface="Arial"/>
              </a:rPr>
              <a:t>API-</a:t>
            </a:r>
            <a:r>
              <a:rPr dirty="0" sz="1200">
                <a:latin typeface="Arial"/>
                <a:cs typeface="Arial"/>
              </a:rPr>
              <a:t>first electronic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signature workflow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automation.</a:t>
            </a:r>
            <a:endParaRPr sz="1200">
              <a:latin typeface="Arial"/>
              <a:cs typeface="Arial"/>
            </a:endParaRPr>
          </a:p>
          <a:p>
            <a:pPr marL="12700" marR="122555" indent="93345">
              <a:lnSpc>
                <a:spcPts val="1340"/>
              </a:lnSpc>
              <a:spcBef>
                <a:spcPts val="75"/>
              </a:spcBef>
              <a:buChar char="-"/>
              <a:tabLst>
                <a:tab pos="106045" algn="l"/>
              </a:tabLst>
            </a:pPr>
            <a:r>
              <a:rPr dirty="0" sz="1200">
                <a:latin typeface="Arial"/>
                <a:cs typeface="Arial"/>
              </a:rPr>
              <a:t>**Core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Functions**: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Trigger signing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flows,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embed signature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experiences, manage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signer </a:t>
            </a:r>
            <a:r>
              <a:rPr dirty="0" sz="1200">
                <a:latin typeface="Arial"/>
                <a:cs typeface="Arial"/>
              </a:rPr>
              <a:t>identities/roles,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capture consent, maintain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tamper-evident audit trails,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 ensure compliance </a:t>
            </a:r>
            <a:r>
              <a:rPr dirty="0" sz="1200" spc="-20">
                <a:latin typeface="Arial"/>
                <a:cs typeface="Arial"/>
              </a:rPr>
              <a:t>with </a:t>
            </a:r>
            <a:r>
              <a:rPr dirty="0" sz="1200">
                <a:latin typeface="Arial"/>
                <a:cs typeface="Arial"/>
              </a:rPr>
              <a:t>eIDAS/ESIGN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Act.</a:t>
            </a:r>
            <a:endParaRPr sz="1200">
              <a:latin typeface="Arial"/>
              <a:cs typeface="Arial"/>
            </a:endParaRPr>
          </a:p>
          <a:p>
            <a:pPr algn="just" marL="106045" indent="-93345">
              <a:lnSpc>
                <a:spcPts val="1260"/>
              </a:lnSpc>
              <a:buChar char="-"/>
              <a:tabLst>
                <a:tab pos="106045" algn="l"/>
              </a:tabLst>
            </a:pPr>
            <a:r>
              <a:rPr dirty="0" sz="1200">
                <a:latin typeface="Arial"/>
                <a:cs typeface="Arial"/>
              </a:rPr>
              <a:t>**Use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Cases**: End-to-end contract signing, consent collection, and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legally binding </a:t>
            </a:r>
            <a:r>
              <a:rPr dirty="0" sz="1200" spc="-10">
                <a:latin typeface="Arial"/>
                <a:cs typeface="Arial"/>
              </a:rPr>
              <a:t>digital</a:t>
            </a:r>
            <a:endParaRPr sz="1200">
              <a:latin typeface="Arial"/>
              <a:cs typeface="Arial"/>
            </a:endParaRPr>
          </a:p>
          <a:p>
            <a:pPr algn="just" marL="12700">
              <a:lnSpc>
                <a:spcPts val="1390"/>
              </a:lnSpc>
            </a:pPr>
            <a:r>
              <a:rPr dirty="0" sz="1200">
                <a:latin typeface="Arial"/>
                <a:cs typeface="Arial"/>
              </a:rPr>
              <a:t>signature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integration.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90"/>
              </a:lnSpc>
              <a:spcBef>
                <a:spcPts val="1240"/>
              </a:spcBef>
            </a:pPr>
            <a:r>
              <a:rPr dirty="0" sz="1200">
                <a:latin typeface="Arial"/>
                <a:cs typeface="Arial"/>
              </a:rPr>
              <a:t>###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4.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PDF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Embed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API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40"/>
              </a:lnSpc>
            </a:pPr>
            <a:r>
              <a:rPr dirty="0" sz="1200">
                <a:latin typeface="Arial"/>
                <a:cs typeface="Arial"/>
              </a:rPr>
              <a:t>Lightweight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in-app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PDF viewing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 </a:t>
            </a:r>
            <a:r>
              <a:rPr dirty="0" sz="1200" spc="-10">
                <a:latin typeface="Arial"/>
                <a:cs typeface="Arial"/>
              </a:rPr>
              <a:t>interaction.</a:t>
            </a:r>
            <a:endParaRPr sz="1200">
              <a:latin typeface="Arial"/>
              <a:cs typeface="Arial"/>
            </a:endParaRPr>
          </a:p>
          <a:p>
            <a:pPr marL="12700" marR="5080" indent="93345">
              <a:lnSpc>
                <a:spcPts val="1340"/>
              </a:lnSpc>
              <a:spcBef>
                <a:spcPts val="80"/>
              </a:spcBef>
              <a:buChar char="-"/>
              <a:tabLst>
                <a:tab pos="106045" algn="l"/>
              </a:tabLst>
            </a:pPr>
            <a:r>
              <a:rPr dirty="0" sz="1200">
                <a:latin typeface="Arial"/>
                <a:cs typeface="Arial"/>
              </a:rPr>
              <a:t>**Core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Functions**: Embed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customizable PDF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viewers with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annotations, form-filling, </a:t>
            </a:r>
            <a:r>
              <a:rPr dirty="0" sz="1200" spc="-10">
                <a:latin typeface="Arial"/>
                <a:cs typeface="Arial"/>
              </a:rPr>
              <a:t>collaboration, </a:t>
            </a:r>
            <a:r>
              <a:rPr dirty="0" sz="1200">
                <a:latin typeface="Arial"/>
                <a:cs typeface="Arial"/>
              </a:rPr>
              <a:t>and access control; no plugins/downloads </a:t>
            </a:r>
            <a:r>
              <a:rPr dirty="0" sz="1200" spc="-10">
                <a:latin typeface="Arial"/>
                <a:cs typeface="Arial"/>
              </a:rPr>
              <a:t>required.</a:t>
            </a:r>
            <a:endParaRPr sz="1200">
              <a:latin typeface="Arial"/>
              <a:cs typeface="Arial"/>
            </a:endParaRPr>
          </a:p>
          <a:p>
            <a:pPr marL="106045" indent="-93345">
              <a:lnSpc>
                <a:spcPts val="1260"/>
              </a:lnSpc>
              <a:buChar char="-"/>
              <a:tabLst>
                <a:tab pos="106045" algn="l"/>
              </a:tabLst>
            </a:pPr>
            <a:r>
              <a:rPr dirty="0" sz="1200">
                <a:latin typeface="Arial"/>
                <a:cs typeface="Arial"/>
              </a:rPr>
              <a:t>**Use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Cases**: In-portal document review, customer-facing PDF previews, and </a:t>
            </a:r>
            <a:r>
              <a:rPr dirty="0" sz="1200" spc="-10">
                <a:latin typeface="Arial"/>
                <a:cs typeface="Arial"/>
              </a:rPr>
              <a:t>collaborative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90"/>
              </a:lnSpc>
            </a:pPr>
            <a:r>
              <a:rPr dirty="0" sz="1200">
                <a:latin typeface="Arial"/>
                <a:cs typeface="Arial"/>
              </a:rPr>
              <a:t>annotation</a:t>
            </a:r>
            <a:r>
              <a:rPr dirty="0" sz="1200" spc="-10">
                <a:latin typeface="Arial"/>
                <a:cs typeface="Arial"/>
              </a:rPr>
              <a:t> workflows.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90"/>
              </a:lnSpc>
              <a:spcBef>
                <a:spcPts val="1235"/>
              </a:spcBef>
            </a:pPr>
            <a:r>
              <a:rPr dirty="0" sz="1200">
                <a:latin typeface="Arial"/>
                <a:cs typeface="Arial"/>
              </a:rPr>
              <a:t>##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Key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Platform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Features</a:t>
            </a:r>
            <a:endParaRPr sz="1200">
              <a:latin typeface="Arial"/>
              <a:cs typeface="Arial"/>
            </a:endParaRPr>
          </a:p>
          <a:p>
            <a:pPr marL="12700" marR="792480" indent="93345">
              <a:lnSpc>
                <a:spcPts val="1340"/>
              </a:lnSpc>
              <a:spcBef>
                <a:spcPts val="80"/>
              </a:spcBef>
              <a:buChar char="-"/>
              <a:tabLst>
                <a:tab pos="106045" algn="l"/>
              </a:tabLst>
            </a:pPr>
            <a:r>
              <a:rPr dirty="0" sz="1200">
                <a:latin typeface="Arial"/>
                <a:cs typeface="Arial"/>
              </a:rPr>
              <a:t>**Developer-Centric**: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Clean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REST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design,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real-</a:t>
            </a:r>
            <a:r>
              <a:rPr dirty="0" sz="1200">
                <a:latin typeface="Arial"/>
                <a:cs typeface="Arial"/>
              </a:rPr>
              <a:t>time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sandbox,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pre-built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workflows,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full </a:t>
            </a:r>
            <a:r>
              <a:rPr dirty="0" sz="1200">
                <a:latin typeface="Arial"/>
                <a:cs typeface="Arial"/>
              </a:rPr>
              <a:t>documentation,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SDKs, and live code </a:t>
            </a:r>
            <a:r>
              <a:rPr dirty="0" sz="1200" spc="-10">
                <a:latin typeface="Arial"/>
                <a:cs typeface="Arial"/>
              </a:rPr>
              <a:t>demos.</a:t>
            </a:r>
            <a:endParaRPr sz="1200">
              <a:latin typeface="Arial"/>
              <a:cs typeface="Arial"/>
            </a:endParaRPr>
          </a:p>
          <a:p>
            <a:pPr marL="106045" indent="-93345">
              <a:lnSpc>
                <a:spcPts val="1260"/>
              </a:lnSpc>
              <a:buChar char="-"/>
              <a:tabLst>
                <a:tab pos="106045" algn="l"/>
              </a:tabLst>
            </a:pPr>
            <a:r>
              <a:rPr dirty="0" sz="1200" spc="-10">
                <a:latin typeface="Arial"/>
                <a:cs typeface="Arial"/>
              </a:rPr>
              <a:t>**Enterprise-</a:t>
            </a:r>
            <a:r>
              <a:rPr dirty="0" sz="1200">
                <a:latin typeface="Arial"/>
                <a:cs typeface="Arial"/>
              </a:rPr>
              <a:t>Grade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Security**: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TLS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1.2+/AES-256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encryption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(in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transit/rest),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RBAC,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PKI</a:t>
            </a:r>
            <a:endParaRPr sz="1200">
              <a:latin typeface="Arial"/>
              <a:cs typeface="Arial"/>
            </a:endParaRPr>
          </a:p>
          <a:p>
            <a:pPr marL="12700" marR="284480">
              <a:lnSpc>
                <a:spcPts val="1340"/>
              </a:lnSpc>
              <a:spcBef>
                <a:spcPts val="75"/>
              </a:spcBef>
            </a:pPr>
            <a:r>
              <a:rPr dirty="0" sz="1200">
                <a:latin typeface="Arial"/>
                <a:cs typeface="Arial"/>
              </a:rPr>
              <a:t>signatures,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SOC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2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Type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II,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ISO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27001,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compliance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with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HIPAA,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GDPR,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FERPA,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CCPA,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21 </a:t>
            </a:r>
            <a:r>
              <a:rPr dirty="0" sz="1200">
                <a:latin typeface="Arial"/>
                <a:cs typeface="Arial"/>
              </a:rPr>
              <a:t>CFR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Part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11.</a:t>
            </a:r>
            <a:endParaRPr sz="1200">
              <a:latin typeface="Arial"/>
              <a:cs typeface="Arial"/>
            </a:endParaRPr>
          </a:p>
          <a:p>
            <a:pPr marL="106045" indent="-93345">
              <a:lnSpc>
                <a:spcPts val="1260"/>
              </a:lnSpc>
              <a:buChar char="-"/>
              <a:tabLst>
                <a:tab pos="106045" algn="l"/>
              </a:tabLst>
            </a:pPr>
            <a:r>
              <a:rPr dirty="0" sz="1200">
                <a:latin typeface="Arial"/>
                <a:cs typeface="Arial"/>
              </a:rPr>
              <a:t>**Scalability**: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Cloud-native architecture for high-volume processing with no </a:t>
            </a:r>
            <a:r>
              <a:rPr dirty="0" sz="1200" spc="-10">
                <a:latin typeface="Arial"/>
                <a:cs typeface="Arial"/>
              </a:rPr>
              <a:t>infrastructure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40"/>
              </a:lnSpc>
            </a:pPr>
            <a:r>
              <a:rPr dirty="0" sz="1200" spc="-10">
                <a:latin typeface="Arial"/>
                <a:cs typeface="Arial"/>
              </a:rPr>
              <a:t>overhead.</a:t>
            </a:r>
            <a:endParaRPr sz="1200">
              <a:latin typeface="Arial"/>
              <a:cs typeface="Arial"/>
            </a:endParaRPr>
          </a:p>
          <a:p>
            <a:pPr marL="105410" indent="-92710">
              <a:lnSpc>
                <a:spcPts val="1340"/>
              </a:lnSpc>
              <a:buChar char="-"/>
              <a:tabLst>
                <a:tab pos="105410" algn="l"/>
              </a:tabLst>
            </a:pPr>
            <a:r>
              <a:rPr dirty="0" sz="1200" spc="-10">
                <a:latin typeface="Arial"/>
                <a:cs typeface="Arial"/>
              </a:rPr>
              <a:t>**End-to-</a:t>
            </a:r>
            <a:r>
              <a:rPr dirty="0" sz="1200">
                <a:latin typeface="Arial"/>
                <a:cs typeface="Arial"/>
              </a:rPr>
              <a:t>End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Coverage**: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Unified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platform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for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document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generation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→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processing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→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signing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50">
                <a:latin typeface="Arial"/>
                <a:cs typeface="Arial"/>
              </a:rPr>
              <a:t>→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90"/>
              </a:lnSpc>
            </a:pPr>
            <a:r>
              <a:rPr dirty="0" sz="1200" spc="-10">
                <a:latin typeface="Arial"/>
                <a:cs typeface="Arial"/>
              </a:rPr>
              <a:t>archival.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90"/>
              </a:lnSpc>
              <a:spcBef>
                <a:spcPts val="1240"/>
              </a:spcBef>
            </a:pPr>
            <a:r>
              <a:rPr dirty="0" sz="1200">
                <a:latin typeface="Arial"/>
                <a:cs typeface="Arial"/>
              </a:rPr>
              <a:t>## Getting </a:t>
            </a:r>
            <a:r>
              <a:rPr dirty="0" sz="1200" spc="-10">
                <a:latin typeface="Arial"/>
                <a:cs typeface="Arial"/>
              </a:rPr>
              <a:t>Started</a:t>
            </a:r>
            <a:endParaRPr sz="1200">
              <a:latin typeface="Arial"/>
              <a:cs typeface="Arial"/>
            </a:endParaRPr>
          </a:p>
          <a:p>
            <a:pPr marL="182245" indent="-169545">
              <a:lnSpc>
                <a:spcPts val="1340"/>
              </a:lnSpc>
              <a:buAutoNum type="arabicPeriod"/>
              <a:tabLst>
                <a:tab pos="182245" algn="l"/>
              </a:tabLst>
            </a:pPr>
            <a:r>
              <a:rPr dirty="0" sz="1200">
                <a:latin typeface="Arial"/>
                <a:cs typeface="Arial"/>
              </a:rPr>
              <a:t>Create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 free developer account for API keys,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docs, and </a:t>
            </a:r>
            <a:r>
              <a:rPr dirty="0" sz="1200" spc="-10">
                <a:latin typeface="Arial"/>
                <a:cs typeface="Arial"/>
              </a:rPr>
              <a:t>tools.</a:t>
            </a:r>
            <a:endParaRPr sz="1200">
              <a:latin typeface="Arial"/>
              <a:cs typeface="Arial"/>
            </a:endParaRPr>
          </a:p>
          <a:p>
            <a:pPr marL="182245" indent="-169545">
              <a:lnSpc>
                <a:spcPts val="1340"/>
              </a:lnSpc>
              <a:buAutoNum type="arabicPeriod"/>
              <a:tabLst>
                <a:tab pos="182245" algn="l"/>
              </a:tabLst>
            </a:pPr>
            <a:r>
              <a:rPr dirty="0" sz="1200">
                <a:latin typeface="Arial"/>
                <a:cs typeface="Arial"/>
              </a:rPr>
              <a:t>Test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via live demos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and generate code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snippets.</a:t>
            </a:r>
            <a:endParaRPr sz="1200">
              <a:latin typeface="Arial"/>
              <a:cs typeface="Arial"/>
            </a:endParaRPr>
          </a:p>
          <a:p>
            <a:pPr marL="182245" indent="-169545">
              <a:lnSpc>
                <a:spcPts val="1390"/>
              </a:lnSpc>
              <a:buAutoNum type="arabicPeriod"/>
              <a:tabLst>
                <a:tab pos="182245" algn="l"/>
              </a:tabLst>
            </a:pPr>
            <a:r>
              <a:rPr dirty="0" sz="1200">
                <a:latin typeface="Arial"/>
                <a:cs typeface="Arial"/>
              </a:rPr>
              <a:t>Integrate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into your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stack and deploy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workflows.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2026-03-26T06:05:54Z</dcterms:created>
  <dcterms:modified xsi:type="dcterms:W3CDTF">2026-03-26T06:05:54Z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2026-03-26T00:00:00Z</vt:filetime>
  </property>
  <property fmtid="{D5CDD505-2E9C-101B-9397-08002B2CF9AE}" pid="3" name="LastSaved">
    <vt:filetime>2026-03-26T00:00:00Z</vt:filetime>
  </property>
</Properties>
</file>